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0" y="2560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00" kern="0" dirty="0">
                <a:solidFill>
                  <a:srgbClr val="5F6F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JPMC INTERNAL USE ONLY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0378440" y="201168"/>
            <a:ext cx="1463040" cy="310896"/>
          </a:xfrm>
          <a:prstGeom prst="rect">
            <a:avLst/>
          </a:prstGeom>
          <a:solidFill>
            <a:srgbClr val="F7E73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3A3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 / ILLUSTRATIVE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2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Capabilities Matrix — Current State &amp; Target Features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932688"/>
            <a:ext cx="11338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6F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have today, what we must build, and the highlight features we would stand up across the lending value chain.  ★ marks priority capabilities; italic (draft) items are reasoned placeholders for review.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65760" y="1335024"/>
            <a:ext cx="146304" cy="146304"/>
          </a:xfrm>
          <a:prstGeom prst="rect">
            <a:avLst/>
          </a:prstGeom>
          <a:solidFill>
            <a:srgbClr val="E9F3EE"/>
          </a:solidFill>
          <a:ln w="9525">
            <a:solidFill>
              <a:srgbClr val="2E7D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2801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F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Have today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1874520" y="1335024"/>
            <a:ext cx="146304" cy="146304"/>
          </a:xfrm>
          <a:prstGeom prst="rect">
            <a:avLst/>
          </a:prstGeom>
          <a:solidFill>
            <a:srgbClr val="FDF3E3"/>
          </a:solidFill>
          <a:ln w="9525">
            <a:solidFill>
              <a:srgbClr val="B5811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75688" y="12801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F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Partial – needs extension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977640" y="1335024"/>
            <a:ext cx="146304" cy="146304"/>
          </a:xfrm>
          <a:prstGeom prst="rect">
            <a:avLst/>
          </a:prstGeom>
          <a:solidFill>
            <a:srgbClr val="FBEAEA"/>
          </a:solidFill>
          <a:ln w="9525">
            <a:solidFill>
              <a:srgbClr val="B342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78808" y="12801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F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– gap to close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5806440" y="1335024"/>
            <a:ext cx="146304" cy="146304"/>
          </a:xfrm>
          <a:prstGeom prst="rect">
            <a:avLst/>
          </a:prstGeom>
          <a:solidFill>
            <a:srgbClr val="EEF4F6"/>
          </a:solidFill>
          <a:ln w="9525">
            <a:solidFill>
              <a:srgbClr val="2F6F7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07608" y="12801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F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Highlight features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7635240" y="12801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793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</a:t>
            </a:r>
            <a:pPr indent="0" marL="0">
              <a:buNone/>
            </a:pPr>
            <a:r>
              <a:rPr lang="en-US" sz="850" dirty="0">
                <a:solidFill>
                  <a:srgbClr val="5F6F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371600" y="1600200"/>
            <a:ext cx="2610612" cy="475488"/>
          </a:xfrm>
          <a:prstGeom prst="rect">
            <a:avLst/>
          </a:prstGeom>
          <a:solidFill>
            <a:srgbClr val="1C2B39"/>
          </a:solidFill>
          <a:ln w="9525">
            <a:solidFill>
              <a:srgbClr val="1C2B39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ORIGINATION</a:t>
            </a:r>
            <a:endParaRPr lang="en-US" sz="1100" dirty="0"/>
          </a:p>
          <a:p>
            <a:pPr algn="ctr" indent="0" marL="0">
              <a:buNone/>
            </a:pPr>
            <a:r>
              <a:rPr lang="en-US" sz="700" b="1" spc="100" kern="0" dirty="0">
                <a:solidFill>
                  <a:srgbClr val="C9D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MOSTLY TO BUILD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982212" y="1600200"/>
            <a:ext cx="2610612" cy="475488"/>
          </a:xfrm>
          <a:prstGeom prst="rect">
            <a:avLst/>
          </a:prstGeom>
          <a:solidFill>
            <a:srgbClr val="1C2B39"/>
          </a:solidFill>
          <a:ln w="9525">
            <a:solidFill>
              <a:srgbClr val="1C2B39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ONBOARDING</a:t>
            </a:r>
            <a:endParaRPr lang="en-US" sz="1100" dirty="0"/>
          </a:p>
          <a:p>
            <a:pPr algn="ctr" indent="0" marL="0">
              <a:buNone/>
            </a:pPr>
            <a:r>
              <a:rPr lang="en-US" sz="700" b="1" spc="100" kern="0" dirty="0">
                <a:solidFill>
                  <a:srgbClr val="C9D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ESTABLISHED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592824" y="1600200"/>
            <a:ext cx="2610612" cy="475488"/>
          </a:xfrm>
          <a:prstGeom prst="rect">
            <a:avLst/>
          </a:prstGeom>
          <a:solidFill>
            <a:srgbClr val="1C2B39"/>
          </a:solidFill>
          <a:ln w="9525">
            <a:solidFill>
              <a:srgbClr val="1C2B39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UNDERWRITING</a:t>
            </a:r>
            <a:endParaRPr lang="en-US" sz="1100" dirty="0"/>
          </a:p>
          <a:p>
            <a:pPr algn="ctr" indent="0" marL="0">
              <a:buNone/>
            </a:pPr>
            <a:r>
              <a:rPr lang="en-US" sz="700" b="1" spc="100" kern="0" dirty="0">
                <a:solidFill>
                  <a:srgbClr val="C9D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/ VENDOR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203436" y="1600200"/>
            <a:ext cx="2610612" cy="475488"/>
          </a:xfrm>
          <a:prstGeom prst="rect">
            <a:avLst/>
          </a:prstGeom>
          <a:solidFill>
            <a:srgbClr val="1C2B39"/>
          </a:solidFill>
          <a:ln w="9525">
            <a:solidFill>
              <a:srgbClr val="1C2B39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SERVICING</a:t>
            </a:r>
            <a:endParaRPr lang="en-US" sz="1100" dirty="0"/>
          </a:p>
          <a:p>
            <a:pPr algn="ctr" indent="0" marL="0">
              <a:buNone/>
            </a:pPr>
            <a:r>
              <a:rPr lang="en-US" sz="700" b="1" spc="100" kern="0" dirty="0">
                <a:solidFill>
                  <a:srgbClr val="C9D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LARGELY IN PLACE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65760" y="2075688"/>
            <a:ext cx="960120" cy="1188720"/>
          </a:xfrm>
          <a:prstGeom prst="rect">
            <a:avLst/>
          </a:prstGeom>
          <a:solidFill>
            <a:srgbClr val="2E7D55"/>
          </a:solidFill>
          <a:ln w="9525">
            <a:solidFill>
              <a:srgbClr val="2E7D55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HAVE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65760" y="3264408"/>
            <a:ext cx="960120" cy="841248"/>
          </a:xfrm>
          <a:prstGeom prst="rect">
            <a:avLst/>
          </a:prstGeom>
          <a:solidFill>
            <a:srgbClr val="B3423A"/>
          </a:solidFill>
          <a:ln w="9525">
            <a:solidFill>
              <a:srgbClr val="B3423A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MUST BUILD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65760" y="4105656"/>
            <a:ext cx="960120" cy="1920240"/>
          </a:xfrm>
          <a:prstGeom prst="rect">
            <a:avLst/>
          </a:prstGeom>
          <a:solidFill>
            <a:srgbClr val="2F6F7E"/>
          </a:solidFill>
          <a:ln w="9525">
            <a:solidFill>
              <a:srgbClr val="2F6F7E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HIGHLIGHT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371600" y="2075688"/>
            <a:ext cx="2610612" cy="1188720"/>
          </a:xfrm>
          <a:prstGeom prst="rect">
            <a:avLst/>
          </a:prstGeom>
          <a:solidFill>
            <a:srgbClr val="FDF3E3"/>
          </a:solidFill>
          <a:ln w="9525">
            <a:solidFill>
              <a:srgbClr val="DFE5EA"/>
            </a:solidFill>
          </a:ln>
        </p:spPr>
        <p:txBody>
          <a:bodyPr wrap="square" lIns="63500" tIns="63500" rIns="63500" bIns="63500" rtlCol="0" anchor="t"/>
          <a:lstStyle/>
          <a:p>
            <a:pPr algn="l" marL="152400" indent="-152400">
              <a:lnSpc>
                <a:spcPct val="95000"/>
              </a:lnSpc>
              <a:spcAft>
                <a:spcPts val="300"/>
              </a:spcAft>
              <a:buSzPct val="100000"/>
              <a:buChar char="●"/>
            </a:pPr>
            <a:r>
              <a:rPr lang="en-US" sz="900" i="1" dirty="0">
                <a:solidFill>
                  <a:srgbClr val="6B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intake channels in place  (draft)</a:t>
            </a:r>
            <a:endParaRPr lang="en-US" sz="900" dirty="0"/>
          </a:p>
          <a:p>
            <a:pPr algn="l" marL="152400" indent="-152400">
              <a:lnSpc>
                <a:spcPct val="95000"/>
              </a:lnSpc>
              <a:spcAft>
                <a:spcPts val="300"/>
              </a:spcAft>
              <a:buSzPct val="100000"/>
              <a:buChar char="●"/>
            </a:pPr>
            <a:r>
              <a:rPr lang="en-US" sz="900" i="1" dirty="0">
                <a:solidFill>
                  <a:srgbClr val="6B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APAR / TPS may support parts of origination  (draft)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982212" y="2075688"/>
            <a:ext cx="2610612" cy="1188720"/>
          </a:xfrm>
          <a:prstGeom prst="rect">
            <a:avLst/>
          </a:prstGeom>
          <a:solidFill>
            <a:srgbClr val="E9F3EE"/>
          </a:solidFill>
          <a:ln w="9525">
            <a:solidFill>
              <a:srgbClr val="DFE5EA"/>
            </a:solidFill>
          </a:ln>
        </p:spPr>
        <p:txBody>
          <a:bodyPr wrap="square" lIns="63500" tIns="63500" rIns="63500" bIns="63500" rtlCol="0" anchor="t"/>
          <a:lstStyle/>
          <a:p>
            <a:pPr algn="l" marL="152400" indent="-152400">
              <a:lnSpc>
                <a:spcPct val="95000"/>
              </a:lnSpc>
              <a:spcAft>
                <a:spcPts val="300"/>
              </a:spcAft>
              <a:buSzPct val="100000"/>
              <a:buChar char="●"/>
            </a:pPr>
            <a:r>
              <a:rPr lang="en-US" sz="900" dirty="0">
                <a:solidFill>
                  <a:srgbClr val="22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SMBDO onboarding platform exists; configurable for onboarding / KYC workflows</a:t>
            </a:r>
            <a:endParaRPr lang="en-US" sz="900" dirty="0"/>
          </a:p>
          <a:p>
            <a:pPr algn="l" marL="152400" indent="-152400">
              <a:lnSpc>
                <a:spcPct val="95000"/>
              </a:lnSpc>
              <a:spcAft>
                <a:spcPts val="300"/>
              </a:spcAft>
              <a:buSzPct val="100000"/>
              <a:buChar char="●"/>
            </a:pPr>
            <a:r>
              <a:rPr lang="en-US" sz="900" dirty="0">
                <a:solidFill>
                  <a:srgbClr val="22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APAR / TPS potentially support onboarding — but still reliant on a sales team using internal tools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592824" y="2075688"/>
            <a:ext cx="2610612" cy="1188720"/>
          </a:xfrm>
          <a:prstGeom prst="rect">
            <a:avLst/>
          </a:prstGeom>
          <a:solidFill>
            <a:srgbClr val="FDF3E3"/>
          </a:solidFill>
          <a:ln w="9525">
            <a:solidFill>
              <a:srgbClr val="DFE5EA"/>
            </a:solidFill>
          </a:ln>
        </p:spPr>
        <p:txBody>
          <a:bodyPr wrap="square" lIns="63500" tIns="63500" rIns="63500" bIns="63500" rtlCol="0" anchor="t"/>
          <a:lstStyle/>
          <a:p>
            <a:pPr algn="l" marL="152400" indent="-152400">
              <a:lnSpc>
                <a:spcPct val="95000"/>
              </a:lnSpc>
              <a:spcAft>
                <a:spcPts val="300"/>
              </a:spcAft>
              <a:buSzPct val="100000"/>
              <a:buChar char="●"/>
            </a:pPr>
            <a:r>
              <a:rPr lang="en-US" sz="900" dirty="0">
                <a:solidFill>
                  <a:srgbClr val="22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Banking connection in place</a:t>
            </a:r>
            <a:endParaRPr lang="en-US" sz="900" dirty="0"/>
          </a:p>
          <a:p>
            <a:pPr algn="l" marL="152400" indent="-152400">
              <a:lnSpc>
                <a:spcPct val="95000"/>
              </a:lnSpc>
              <a:spcAft>
                <a:spcPts val="300"/>
              </a:spcAft>
              <a:buSzPct val="100000"/>
              <a:buChar char="●"/>
            </a:pPr>
            <a:r>
              <a:rPr lang="en-US" sz="900" dirty="0">
                <a:solidFill>
                  <a:srgbClr val="22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in-house underwriting decisioning today — decommissioned</a:t>
            </a:r>
            <a:endParaRPr lang="en-US" sz="900" dirty="0"/>
          </a:p>
          <a:p>
            <a:pPr algn="l" marL="152400" indent="-152400">
              <a:lnSpc>
                <a:spcPct val="95000"/>
              </a:lnSpc>
              <a:spcAft>
                <a:spcPts val="300"/>
              </a:spcAft>
              <a:buSzPct val="100000"/>
              <a:buChar char="●"/>
            </a:pPr>
            <a:r>
              <a:rPr lang="en-US" sz="900" dirty="0">
                <a:solidFill>
                  <a:srgbClr val="22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Handled via vendor integration (e.g. Mondu) or manually by teams offline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9203436" y="2075688"/>
            <a:ext cx="2610612" cy="1188720"/>
          </a:xfrm>
          <a:prstGeom prst="rect">
            <a:avLst/>
          </a:prstGeom>
          <a:solidFill>
            <a:srgbClr val="E9F3EE"/>
          </a:solidFill>
          <a:ln w="9525">
            <a:solidFill>
              <a:srgbClr val="DFE5EA"/>
            </a:solidFill>
          </a:ln>
        </p:spPr>
        <p:txBody>
          <a:bodyPr wrap="square" lIns="63500" tIns="63500" rIns="63500" bIns="63500" rtlCol="0" anchor="t"/>
          <a:lstStyle/>
          <a:p>
            <a:pPr algn="l" marL="152400" indent="-152400">
              <a:lnSpc>
                <a:spcPct val="95000"/>
              </a:lnSpc>
              <a:spcAft>
                <a:spcPts val="300"/>
              </a:spcAft>
              <a:buSzPct val="100000"/>
              <a:buChar char="●"/>
            </a:pPr>
            <a:r>
              <a:rPr lang="en-US" sz="900" dirty="0">
                <a:solidFill>
                  <a:srgbClr val="22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cash-flow servicing — handling payments &amp; collections</a:t>
            </a:r>
            <a:endParaRPr lang="en-US" sz="900" dirty="0"/>
          </a:p>
          <a:p>
            <a:pPr algn="l" marL="152400" indent="-152400">
              <a:lnSpc>
                <a:spcPct val="95000"/>
              </a:lnSpc>
              <a:spcAft>
                <a:spcPts val="300"/>
              </a:spcAft>
              <a:buSzPct val="100000"/>
              <a:buChar char="●"/>
            </a:pPr>
            <a:r>
              <a:rPr lang="en-US" sz="900" dirty="0">
                <a:solidFill>
                  <a:srgbClr val="22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servicing / LMS platform in place</a:t>
            </a:r>
            <a:endParaRPr lang="en-US" sz="900" dirty="0"/>
          </a:p>
          <a:p>
            <a:pPr algn="l" marL="152400" indent="-152400">
              <a:lnSpc>
                <a:spcPct val="95000"/>
              </a:lnSpc>
              <a:spcAft>
                <a:spcPts val="300"/>
              </a:spcAft>
              <a:buSzPct val="100000"/>
              <a:buChar char="●"/>
            </a:pPr>
            <a:r>
              <a:rPr lang="en-US" sz="900" dirty="0">
                <a:solidFill>
                  <a:srgbClr val="22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APAR / TPS support LMS (loan management)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371600" y="3264408"/>
            <a:ext cx="2610612" cy="841248"/>
          </a:xfrm>
          <a:prstGeom prst="rect">
            <a:avLst/>
          </a:prstGeom>
          <a:solidFill>
            <a:srgbClr val="FBEAEA"/>
          </a:solidFill>
          <a:ln w="9525">
            <a:solidFill>
              <a:srgbClr val="DFE5EA"/>
            </a:solidFill>
          </a:ln>
        </p:spPr>
        <p:txBody>
          <a:bodyPr wrap="square" lIns="63500" tIns="63500" rIns="63500" bIns="63500" rtlCol="0" anchor="t"/>
          <a:lstStyle/>
          <a:p>
            <a:pPr algn="l" marL="152400" indent="-152400">
              <a:lnSpc>
                <a:spcPct val="95000"/>
              </a:lnSpc>
              <a:spcAft>
                <a:spcPts val="300"/>
              </a:spcAft>
              <a:buSzPct val="100000"/>
              <a:buChar char="●"/>
            </a:pPr>
            <a:r>
              <a:rPr lang="en-US" sz="900" i="1" dirty="0">
                <a:solidFill>
                  <a:srgbClr val="6B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origination workflow  (draft)</a:t>
            </a:r>
            <a:endParaRPr lang="en-US" sz="900" dirty="0"/>
          </a:p>
          <a:p>
            <a:pPr algn="l" marL="152400" indent="-152400">
              <a:lnSpc>
                <a:spcPct val="95000"/>
              </a:lnSpc>
              <a:spcAft>
                <a:spcPts val="300"/>
              </a:spcAft>
              <a:buSzPct val="100000"/>
              <a:buChar char="●"/>
            </a:pPr>
            <a:r>
              <a:rPr lang="en-US" sz="900" i="1" dirty="0">
                <a:solidFill>
                  <a:srgbClr val="6B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 &amp; deal structuring tools  (draft)</a:t>
            </a:r>
            <a:endParaRPr lang="en-US" sz="900" dirty="0"/>
          </a:p>
          <a:p>
            <a:pPr algn="l" marL="152400" indent="-152400">
              <a:lnSpc>
                <a:spcPct val="95000"/>
              </a:lnSpc>
              <a:spcAft>
                <a:spcPts val="300"/>
              </a:spcAft>
              <a:buSzPct val="100000"/>
              <a:buChar char="●"/>
            </a:pPr>
            <a:r>
              <a:rPr lang="en-US" sz="900" i="1" dirty="0">
                <a:solidFill>
                  <a:srgbClr val="6B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/ lead management  (draft)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982212" y="3264408"/>
            <a:ext cx="2610612" cy="841248"/>
          </a:xfrm>
          <a:prstGeom prst="rect">
            <a:avLst/>
          </a:prstGeom>
          <a:solidFill>
            <a:srgbClr val="FBEAEA"/>
          </a:solidFill>
          <a:ln w="9525">
            <a:solidFill>
              <a:srgbClr val="DFE5EA"/>
            </a:solidFill>
          </a:ln>
        </p:spPr>
        <p:txBody>
          <a:bodyPr wrap="square" lIns="63500" tIns="63500" rIns="63500" bIns="63500" rtlCol="0" anchor="t"/>
          <a:lstStyle/>
          <a:p>
            <a:pPr algn="l" marL="152400" indent="-152400">
              <a:lnSpc>
                <a:spcPct val="95000"/>
              </a:lnSpc>
              <a:spcAft>
                <a:spcPts val="300"/>
              </a:spcAft>
              <a:buSzPct val="100000"/>
              <a:buChar char="●"/>
            </a:pPr>
            <a:r>
              <a:rPr lang="en-US" sz="900" i="1" dirty="0">
                <a:solidFill>
                  <a:srgbClr val="6B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document collection  (draft)</a:t>
            </a:r>
            <a:endParaRPr lang="en-US" sz="900" dirty="0"/>
          </a:p>
          <a:p>
            <a:pPr algn="l" marL="152400" indent="-152400">
              <a:lnSpc>
                <a:spcPct val="95000"/>
              </a:lnSpc>
              <a:spcAft>
                <a:spcPts val="300"/>
              </a:spcAft>
              <a:buSzPct val="100000"/>
              <a:buChar char="●"/>
            </a:pPr>
            <a:r>
              <a:rPr lang="en-US" sz="900" i="1" dirty="0">
                <a:solidFill>
                  <a:srgbClr val="6B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Seamless handoff to underwriting  (draft)</a:t>
            </a:r>
            <a:endParaRPr lang="en-US" sz="900" dirty="0"/>
          </a:p>
          <a:p>
            <a:pPr algn="l" marL="152400" indent="-152400">
              <a:lnSpc>
                <a:spcPct val="95000"/>
              </a:lnSpc>
              <a:spcAft>
                <a:spcPts val="300"/>
              </a:spcAft>
              <a:buSzPct val="100000"/>
              <a:buChar char="●"/>
            </a:pPr>
            <a:r>
              <a:rPr lang="en-US" sz="900" i="1" dirty="0">
                <a:solidFill>
                  <a:srgbClr val="6B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KYC / AML orchestration  (draft)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592824" y="3264408"/>
            <a:ext cx="2610612" cy="841248"/>
          </a:xfrm>
          <a:prstGeom prst="rect">
            <a:avLst/>
          </a:prstGeom>
          <a:solidFill>
            <a:srgbClr val="FBEAEA"/>
          </a:solidFill>
          <a:ln w="9525">
            <a:solidFill>
              <a:srgbClr val="DFE5EA"/>
            </a:solidFill>
          </a:ln>
        </p:spPr>
        <p:txBody>
          <a:bodyPr wrap="square" lIns="63500" tIns="63500" rIns="63500" bIns="63500" rtlCol="0" anchor="t"/>
          <a:lstStyle/>
          <a:p>
            <a:pPr algn="l" marL="152400" indent="-152400">
              <a:lnSpc>
                <a:spcPct val="95000"/>
              </a:lnSpc>
              <a:spcAft>
                <a:spcPts val="300"/>
              </a:spcAft>
              <a:buSzPct val="100000"/>
              <a:buChar char="●"/>
            </a:pPr>
            <a:r>
              <a:rPr lang="en-US" sz="900" dirty="0">
                <a:solidFill>
                  <a:srgbClr val="22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Built-in underwriting engine (rules, scoring, decisioning)</a:t>
            </a:r>
            <a:endParaRPr lang="en-US" sz="900" dirty="0"/>
          </a:p>
          <a:p>
            <a:pPr algn="l" marL="152400" indent="-152400">
              <a:lnSpc>
                <a:spcPct val="95000"/>
              </a:lnSpc>
              <a:spcAft>
                <a:spcPts val="300"/>
              </a:spcAft>
              <a:buSzPct val="100000"/>
              <a:buChar char="●"/>
            </a:pPr>
            <a:r>
              <a:rPr lang="en-US" sz="900" dirty="0">
                <a:solidFill>
                  <a:srgbClr val="22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Mature OCR / document-extraction engine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9203436" y="3264408"/>
            <a:ext cx="2610612" cy="841248"/>
          </a:xfrm>
          <a:prstGeom prst="rect">
            <a:avLst/>
          </a:prstGeom>
          <a:solidFill>
            <a:srgbClr val="FBEAEA"/>
          </a:solidFill>
          <a:ln w="9525">
            <a:solidFill>
              <a:srgbClr val="DFE5EA"/>
            </a:solidFill>
          </a:ln>
        </p:spPr>
        <p:txBody>
          <a:bodyPr wrap="square" lIns="63500" tIns="63500" rIns="63500" bIns="63500" rtlCol="0" anchor="t"/>
          <a:lstStyle/>
          <a:p>
            <a:pPr algn="l" marL="152400" indent="-152400">
              <a:lnSpc>
                <a:spcPct val="95000"/>
              </a:lnSpc>
              <a:spcAft>
                <a:spcPts val="300"/>
              </a:spcAft>
              <a:buSzPct val="100000"/>
              <a:buChar char="●"/>
            </a:pPr>
            <a:r>
              <a:rPr lang="en-US" sz="900" dirty="0">
                <a:solidFill>
                  <a:srgbClr val="22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Cash-flow servicing with daily active settlement</a:t>
            </a:r>
            <a:endParaRPr lang="en-US" sz="900" dirty="0"/>
          </a:p>
          <a:p>
            <a:pPr algn="l" marL="152400" indent="-152400">
              <a:lnSpc>
                <a:spcPct val="95000"/>
              </a:lnSpc>
              <a:spcAft>
                <a:spcPts val="300"/>
              </a:spcAft>
              <a:buSzPct val="100000"/>
              <a:buChar char="●"/>
            </a:pPr>
            <a:r>
              <a:rPr lang="en-US" sz="900" i="1" dirty="0">
                <a:solidFill>
                  <a:srgbClr val="6B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self-service &amp; reporting  (draft)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371600" y="4105656"/>
            <a:ext cx="2610612" cy="1920240"/>
          </a:xfrm>
          <a:prstGeom prst="rect">
            <a:avLst/>
          </a:prstGeom>
          <a:solidFill>
            <a:srgbClr val="EEF4F6"/>
          </a:solidFill>
          <a:ln w="9525">
            <a:solidFill>
              <a:srgbClr val="DFE5EA"/>
            </a:solidFill>
          </a:ln>
        </p:spPr>
        <p:txBody>
          <a:bodyPr wrap="square" lIns="63500" tIns="63500" rIns="63500" bIns="63500" rtlCol="0" anchor="t"/>
          <a:lstStyle/>
          <a:p>
            <a:pPr algn="l" marL="152400" indent="-152400">
              <a:lnSpc>
                <a:spcPct val="95000"/>
              </a:lnSpc>
              <a:spcAft>
                <a:spcPts val="300"/>
              </a:spcAft>
              <a:buSzPct val="100000"/>
              <a:buChar char="★"/>
            </a:pPr>
            <a:r>
              <a:rPr lang="en-US" sz="750" b="1" dirty="0">
                <a:solidFill>
                  <a:srgbClr val="22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Omni-channel digital intake (web, partner/API)</a:t>
            </a:r>
            <a:endParaRPr lang="en-US" sz="750" dirty="0"/>
          </a:p>
          <a:p>
            <a:pPr algn="l" marL="152400" indent="-152400">
              <a:lnSpc>
                <a:spcPct val="95000"/>
              </a:lnSpc>
              <a:spcAft>
                <a:spcPts val="300"/>
              </a:spcAft>
              <a:buSzPct val="100000"/>
              <a:buChar char="★"/>
            </a:pPr>
            <a:r>
              <a:rPr lang="en-US" sz="750" b="1" dirty="0">
                <a:solidFill>
                  <a:srgbClr val="22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 &amp; deal-structuring engine</a:t>
            </a:r>
            <a:endParaRPr lang="en-US" sz="750" dirty="0"/>
          </a:p>
          <a:p>
            <a:pPr algn="l" marL="152400" indent="-152400">
              <a:lnSpc>
                <a:spcPct val="95000"/>
              </a:lnSpc>
              <a:spcAft>
                <a:spcPts val="300"/>
              </a:spcAft>
              <a:buSzPct val="100000"/>
              <a:buChar char="●"/>
            </a:pPr>
            <a:r>
              <a:rPr lang="en-US" sz="750" dirty="0">
                <a:solidFill>
                  <a:srgbClr val="22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catalog + real-time pre-qualification</a:t>
            </a:r>
            <a:endParaRPr lang="en-US" sz="750" dirty="0"/>
          </a:p>
          <a:p>
            <a:pPr algn="l" marL="152400" indent="-152400">
              <a:lnSpc>
                <a:spcPct val="95000"/>
              </a:lnSpc>
              <a:spcAft>
                <a:spcPts val="300"/>
              </a:spcAft>
              <a:buSzPct val="100000"/>
              <a:buChar char="●"/>
            </a:pPr>
            <a:r>
              <a:rPr lang="en-US" sz="750" dirty="0">
                <a:solidFill>
                  <a:srgbClr val="22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/ pipeline management with CRM integration</a:t>
            </a:r>
            <a:endParaRPr lang="en-US" sz="750" dirty="0"/>
          </a:p>
          <a:p>
            <a:pPr algn="l" marL="152400" indent="-152400">
              <a:lnSpc>
                <a:spcPct val="95000"/>
              </a:lnSpc>
              <a:spcAft>
                <a:spcPts val="300"/>
              </a:spcAft>
              <a:buSzPct val="100000"/>
              <a:buChar char="●"/>
            </a:pPr>
            <a:r>
              <a:rPr lang="en-US" sz="750" dirty="0">
                <a:solidFill>
                  <a:srgbClr val="22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Pre-fill from customer data &amp; bureau pulls</a:t>
            </a:r>
            <a:endParaRPr lang="en-US" sz="750" dirty="0"/>
          </a:p>
          <a:p>
            <a:pPr algn="l" marL="152400" indent="-152400">
              <a:lnSpc>
                <a:spcPct val="95000"/>
              </a:lnSpc>
              <a:spcAft>
                <a:spcPts val="300"/>
              </a:spcAft>
              <a:buSzPct val="100000"/>
              <a:buChar char="●"/>
            </a:pPr>
            <a:r>
              <a:rPr lang="en-US" sz="750" dirty="0">
                <a:solidFill>
                  <a:srgbClr val="22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application status tracking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3982212" y="4105656"/>
            <a:ext cx="2610612" cy="1920240"/>
          </a:xfrm>
          <a:prstGeom prst="rect">
            <a:avLst/>
          </a:prstGeom>
          <a:solidFill>
            <a:srgbClr val="EEF4F6"/>
          </a:solidFill>
          <a:ln w="9525">
            <a:solidFill>
              <a:srgbClr val="DFE5EA"/>
            </a:solidFill>
          </a:ln>
        </p:spPr>
        <p:txBody>
          <a:bodyPr wrap="square" lIns="63500" tIns="63500" rIns="63500" bIns="63500" rtlCol="0" anchor="t"/>
          <a:lstStyle/>
          <a:p>
            <a:pPr algn="l" marL="152400" indent="-152400">
              <a:lnSpc>
                <a:spcPct val="95000"/>
              </a:lnSpc>
              <a:spcAft>
                <a:spcPts val="300"/>
              </a:spcAft>
              <a:buSzPct val="100000"/>
              <a:buChar char="★"/>
            </a:pPr>
            <a:r>
              <a:rPr lang="en-US" sz="750" b="1" dirty="0">
                <a:solidFill>
                  <a:srgbClr val="22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Configurable KYC / KYB workflows (SMBDO)</a:t>
            </a:r>
            <a:endParaRPr lang="en-US" sz="750" dirty="0"/>
          </a:p>
          <a:p>
            <a:pPr algn="l" marL="152400" indent="-152400">
              <a:lnSpc>
                <a:spcPct val="95000"/>
              </a:lnSpc>
              <a:spcAft>
                <a:spcPts val="300"/>
              </a:spcAft>
              <a:buSzPct val="100000"/>
              <a:buChar char="★"/>
            </a:pPr>
            <a:r>
              <a:rPr lang="en-US" sz="750" b="1" dirty="0">
                <a:solidFill>
                  <a:srgbClr val="22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Beneficial ownership (UBO) resolution &amp; entity verification</a:t>
            </a:r>
            <a:endParaRPr lang="en-US" sz="750" dirty="0"/>
          </a:p>
          <a:p>
            <a:pPr algn="l" marL="152400" indent="-152400">
              <a:lnSpc>
                <a:spcPct val="95000"/>
              </a:lnSpc>
              <a:spcAft>
                <a:spcPts val="300"/>
              </a:spcAft>
              <a:buSzPct val="100000"/>
              <a:buChar char="●"/>
            </a:pPr>
            <a:r>
              <a:rPr lang="en-US" sz="750" dirty="0">
                <a:solidFill>
                  <a:srgbClr val="22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document collection + e-signature</a:t>
            </a:r>
            <a:endParaRPr lang="en-US" sz="750" dirty="0"/>
          </a:p>
          <a:p>
            <a:pPr algn="l" marL="152400" indent="-152400">
              <a:lnSpc>
                <a:spcPct val="95000"/>
              </a:lnSpc>
              <a:spcAft>
                <a:spcPts val="300"/>
              </a:spcAft>
              <a:buSzPct val="100000"/>
              <a:buChar char="●"/>
            </a:pPr>
            <a:r>
              <a:rPr lang="en-US" sz="750" dirty="0">
                <a:solidFill>
                  <a:srgbClr val="22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 verification + sanctions / AML screening</a:t>
            </a:r>
            <a:endParaRPr lang="en-US" sz="750" dirty="0"/>
          </a:p>
          <a:p>
            <a:pPr algn="l" marL="152400" indent="-152400">
              <a:lnSpc>
                <a:spcPct val="95000"/>
              </a:lnSpc>
              <a:spcAft>
                <a:spcPts val="300"/>
              </a:spcAft>
              <a:buSzPct val="100000"/>
              <a:buChar char="●"/>
            </a:pPr>
            <a:r>
              <a:rPr lang="en-US" sz="750" dirty="0">
                <a:solidFill>
                  <a:srgbClr val="22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Straight-through handoff into underwriting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6592824" y="4105656"/>
            <a:ext cx="2610612" cy="1920240"/>
          </a:xfrm>
          <a:prstGeom prst="rect">
            <a:avLst/>
          </a:prstGeom>
          <a:solidFill>
            <a:srgbClr val="EEF4F6"/>
          </a:solidFill>
          <a:ln w="9525">
            <a:solidFill>
              <a:srgbClr val="DFE5EA"/>
            </a:solidFill>
          </a:ln>
        </p:spPr>
        <p:txBody>
          <a:bodyPr wrap="square" lIns="63500" tIns="63500" rIns="63500" bIns="63500" rtlCol="0" anchor="t"/>
          <a:lstStyle/>
          <a:p>
            <a:pPr algn="l" marL="152400" indent="-152400">
              <a:lnSpc>
                <a:spcPct val="95000"/>
              </a:lnSpc>
              <a:spcAft>
                <a:spcPts val="300"/>
              </a:spcAft>
              <a:buSzPct val="100000"/>
              <a:buChar char="★"/>
            </a:pPr>
            <a:r>
              <a:rPr lang="en-US" sz="750" b="1" dirty="0">
                <a:solidFill>
                  <a:srgbClr val="22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decisioning engine (rules + risk scoring)</a:t>
            </a:r>
            <a:endParaRPr lang="en-US" sz="750" dirty="0"/>
          </a:p>
          <a:p>
            <a:pPr algn="l" marL="152400" indent="-152400">
              <a:lnSpc>
                <a:spcPct val="95000"/>
              </a:lnSpc>
              <a:spcAft>
                <a:spcPts val="300"/>
              </a:spcAft>
              <a:buSzPct val="100000"/>
              <a:buChar char="★"/>
            </a:pPr>
            <a:r>
              <a:rPr lang="en-US" sz="750" b="1" dirty="0">
                <a:solidFill>
                  <a:srgbClr val="22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Intelligent OCR / extraction (financials, tax returns, bank stmts)</a:t>
            </a:r>
            <a:endParaRPr lang="en-US" sz="750" dirty="0"/>
          </a:p>
          <a:p>
            <a:pPr algn="l" marL="152400" indent="-152400">
              <a:lnSpc>
                <a:spcPct val="95000"/>
              </a:lnSpc>
              <a:spcAft>
                <a:spcPts val="300"/>
              </a:spcAft>
              <a:buSzPct val="100000"/>
              <a:buChar char="●"/>
            </a:pPr>
            <a:r>
              <a:rPr lang="en-US" sz="750" dirty="0">
                <a:solidFill>
                  <a:srgbClr val="22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 models: bureau + cash-flow analysis</a:t>
            </a:r>
            <a:endParaRPr lang="en-US" sz="750" dirty="0"/>
          </a:p>
          <a:p>
            <a:pPr algn="l" marL="152400" indent="-152400">
              <a:lnSpc>
                <a:spcPct val="95000"/>
              </a:lnSpc>
              <a:spcAft>
                <a:spcPts val="300"/>
              </a:spcAft>
              <a:buSzPct val="100000"/>
              <a:buChar char="●"/>
            </a:pPr>
            <a:r>
              <a:rPr lang="en-US" sz="750" dirty="0">
                <a:solidFill>
                  <a:srgbClr val="22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spreading &amp; ratio analysis</a:t>
            </a:r>
            <a:endParaRPr lang="en-US" sz="750" dirty="0"/>
          </a:p>
          <a:p>
            <a:pPr algn="l" marL="152400" indent="-152400">
              <a:lnSpc>
                <a:spcPct val="95000"/>
              </a:lnSpc>
              <a:spcAft>
                <a:spcPts val="300"/>
              </a:spcAft>
              <a:buSzPct val="100000"/>
              <a:buChar char="●"/>
            </a:pPr>
            <a:r>
              <a:rPr lang="en-US" sz="750" dirty="0">
                <a:solidFill>
                  <a:srgbClr val="22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Policy, exception &amp; referral-queue management</a:t>
            </a:r>
            <a:endParaRPr lang="en-US" sz="750" dirty="0"/>
          </a:p>
          <a:p>
            <a:pPr algn="l" marL="152400" indent="-152400">
              <a:lnSpc>
                <a:spcPct val="95000"/>
              </a:lnSpc>
              <a:spcAft>
                <a:spcPts val="300"/>
              </a:spcAft>
              <a:buSzPct val="100000"/>
              <a:buChar char="●"/>
            </a:pPr>
            <a:r>
              <a:rPr lang="en-US" sz="750" dirty="0">
                <a:solidFill>
                  <a:srgbClr val="22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audit trail &amp; explainability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9203436" y="4105656"/>
            <a:ext cx="2610612" cy="1920240"/>
          </a:xfrm>
          <a:prstGeom prst="rect">
            <a:avLst/>
          </a:prstGeom>
          <a:solidFill>
            <a:srgbClr val="EEF4F6"/>
          </a:solidFill>
          <a:ln w="9525">
            <a:solidFill>
              <a:srgbClr val="DFE5EA"/>
            </a:solidFill>
          </a:ln>
        </p:spPr>
        <p:txBody>
          <a:bodyPr wrap="square" lIns="63500" tIns="63500" rIns="63500" bIns="63500" rtlCol="0" anchor="t"/>
          <a:lstStyle/>
          <a:p>
            <a:pPr algn="l" marL="152400" indent="-152400">
              <a:lnSpc>
                <a:spcPct val="95000"/>
              </a:lnSpc>
              <a:spcAft>
                <a:spcPts val="300"/>
              </a:spcAft>
              <a:buSzPct val="100000"/>
              <a:buChar char="★"/>
            </a:pPr>
            <a:r>
              <a:rPr lang="en-US" sz="750" b="1" dirty="0">
                <a:solidFill>
                  <a:srgbClr val="22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Loan Management System — boarding, billing, amortization</a:t>
            </a:r>
            <a:endParaRPr lang="en-US" sz="750" dirty="0"/>
          </a:p>
          <a:p>
            <a:pPr algn="l" marL="152400" indent="-152400">
              <a:lnSpc>
                <a:spcPct val="95000"/>
              </a:lnSpc>
              <a:spcAft>
                <a:spcPts val="300"/>
              </a:spcAft>
              <a:buSzPct val="100000"/>
              <a:buChar char="★"/>
            </a:pPr>
            <a:r>
              <a:rPr lang="en-US" sz="750" b="1" dirty="0">
                <a:solidFill>
                  <a:srgbClr val="22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self-service portal</a:t>
            </a:r>
            <a:endParaRPr lang="en-US" sz="750" dirty="0"/>
          </a:p>
          <a:p>
            <a:pPr algn="l" marL="152400" indent="-152400">
              <a:lnSpc>
                <a:spcPct val="95000"/>
              </a:lnSpc>
              <a:spcAft>
                <a:spcPts val="300"/>
              </a:spcAft>
              <a:buSzPct val="100000"/>
              <a:buChar char="●"/>
            </a:pPr>
            <a:r>
              <a:rPr lang="en-US" sz="750" dirty="0">
                <a:solidFill>
                  <a:srgbClr val="22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cash-flow servicing — payments &amp; collections (ACH, auto-pay, delinquency)</a:t>
            </a:r>
            <a:endParaRPr lang="en-US" sz="750" dirty="0"/>
          </a:p>
          <a:p>
            <a:pPr algn="l" marL="152400" indent="-152400">
              <a:lnSpc>
                <a:spcPct val="95000"/>
              </a:lnSpc>
              <a:spcAft>
                <a:spcPts val="300"/>
              </a:spcAft>
              <a:buSzPct val="100000"/>
              <a:buChar char="●"/>
            </a:pPr>
            <a:r>
              <a:rPr lang="en-US" sz="750" dirty="0">
                <a:solidFill>
                  <a:srgbClr val="22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Statements, notices &amp; document management</a:t>
            </a:r>
            <a:endParaRPr lang="en-US" sz="750" dirty="0"/>
          </a:p>
          <a:p>
            <a:pPr algn="l" marL="152400" indent="-152400">
              <a:lnSpc>
                <a:spcPct val="95000"/>
              </a:lnSpc>
              <a:spcAft>
                <a:spcPts val="300"/>
              </a:spcAft>
              <a:buSzPct val="100000"/>
              <a:buChar char="●"/>
            </a:pPr>
            <a:r>
              <a:rPr lang="en-US" sz="750" dirty="0">
                <a:solidFill>
                  <a:srgbClr val="22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 monitoring &amp; covenant tracking</a:t>
            </a:r>
            <a:endParaRPr lang="en-US" sz="750" dirty="0"/>
          </a:p>
          <a:p>
            <a:pPr algn="l" marL="152400" indent="-152400">
              <a:lnSpc>
                <a:spcPct val="95000"/>
              </a:lnSpc>
              <a:spcAft>
                <a:spcPts val="300"/>
              </a:spcAft>
              <a:buSzPct val="100000"/>
              <a:buChar char="●"/>
            </a:pPr>
            <a:r>
              <a:rPr lang="en-US" sz="750" dirty="0">
                <a:solidFill>
                  <a:srgbClr val="22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Reporting &amp; analytics dashboards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365760" y="6263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2B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J.P.Morgan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4572000" y="6263640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6F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State Assessment  ·  Draft for leadership review  ·  ★ priority  ·  italic (draft) = reasoned placeholder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2026-08-05T11:39:06Z</dcterms:created>
  <dcterms:modified xsi:type="dcterms:W3CDTF">2026-08-05T11:39:06Z</dcterms:modified>
</cp:coreProperties>
</file>